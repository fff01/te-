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7838" y="621792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F63B9"/>
                </a:solidFill>
                <a:latin typeface="微软雅黑" panose="020B0503020204020204" charset="-122"/>
              </a:rPr>
              <a:t>课程论文汇报</a:t>
            </a:r>
            <a:endParaRPr sz="12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7965" y="1097280"/>
            <a:ext cx="5346700" cy="10033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92234"/>
                </a:solidFill>
                <a:latin typeface="微软雅黑" panose="020B0503020204020204" charset="-122"/>
              </a:rPr>
              <a:t>TE-KG：面向转座元件疾病证据整合的知识图谱资源</a:t>
            </a:r>
            <a:endParaRPr sz="30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2575" y="2514600"/>
            <a:ext cx="5161280" cy="51879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5C677A"/>
                </a:solidFill>
                <a:latin typeface="微软雅黑" panose="020B0503020204020204" charset="-122"/>
              </a:rPr>
              <a:t>从分散数据库与文献记录出发，构建可浏览、可追踪、可问答、可导出的 TE 疾病证据链资源。</a:t>
            </a:r>
            <a:endParaRPr sz="15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01-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610" y="1097280"/>
            <a:ext cx="5946775" cy="371538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82702" y="4370832"/>
            <a:ext cx="1572768" cy="502920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294" y="4526280"/>
            <a:ext cx="123444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F63B9"/>
                </a:solidFill>
                <a:latin typeface="微软雅黑" panose="020B0503020204020204" charset="-122"/>
              </a:rPr>
              <a:t>知识图谱</a:t>
            </a:r>
            <a:endParaRPr sz="11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57222" y="4370832"/>
            <a:ext cx="1572768" cy="502920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1814" y="4526280"/>
            <a:ext cx="123444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3496A8"/>
                </a:solidFill>
                <a:latin typeface="微软雅黑" panose="020B0503020204020204" charset="-122"/>
              </a:rPr>
              <a:t>PMID 证据</a:t>
            </a:r>
            <a:endParaRPr sz="1100" b="1">
              <a:solidFill>
                <a:srgbClr val="3496A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031742" y="4370832"/>
            <a:ext cx="1572768" cy="502920"/>
          </a:xfrm>
          <a:prstGeom prst="roundRect">
            <a:avLst/>
          </a:prstGeom>
          <a:solidFill>
            <a:srgbClr val="F6F8FC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6334" y="4526280"/>
            <a:ext cx="1234440" cy="1463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438E5D"/>
                </a:solidFill>
                <a:latin typeface="微软雅黑" panose="020B0503020204020204" charset="-122"/>
              </a:rPr>
              <a:t>问答助手</a:t>
            </a:r>
            <a:endParaRPr sz="1100" b="1">
              <a:solidFill>
                <a:srgbClr val="438E5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6291072"/>
            <a:ext cx="20116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C677A"/>
                </a:solidFill>
                <a:latin typeface="微软雅黑" panose="020B0503020204020204" charset="-122"/>
              </a:rPr>
              <a:t>浙江大学课程论文</a:t>
            </a:r>
            <a:endParaRPr sz="9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3B9"/>
                </a:solidFill>
                <a:latin typeface="微软雅黑" panose="020B0503020204020204" charset="-122"/>
              </a:rPr>
              <a:t>BACKGROUND</a:t>
            </a:r>
            <a:endParaRPr sz="85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138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234"/>
                </a:solidFill>
                <a:latin typeface="微软雅黑" panose="020B0503020204020204" charset="-122"/>
              </a:rPr>
              <a:t>TE 疾病研究的证据分散在多个资源中</a:t>
            </a:r>
            <a:endParaRPr sz="25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604135"/>
            <a:ext cx="24231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750439"/>
            <a:ext cx="1737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92234"/>
                </a:solidFill>
                <a:latin typeface="微软雅黑" panose="020B0503020204020204" charset="-122"/>
              </a:rPr>
              <a:t>分类与序列</a:t>
            </a:r>
            <a:endParaRPr sz="14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3043047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77A"/>
                </a:solidFill>
                <a:latin typeface="微软雅黑" panose="020B0503020204020204" charset="-122"/>
              </a:rPr>
              <a:t>TE 名称、家族、亚家族、共识序列</a:t>
            </a:r>
            <a:endParaRPr sz="10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0440" y="2604135"/>
            <a:ext cx="24231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750439"/>
            <a:ext cx="1737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92234"/>
                </a:solidFill>
                <a:latin typeface="微软雅黑" panose="020B0503020204020204" charset="-122"/>
              </a:rPr>
              <a:t>表达与位置</a:t>
            </a:r>
            <a:endParaRPr sz="14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85032" y="3043047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77A"/>
                </a:solidFill>
                <a:latin typeface="微软雅黑" panose="020B0503020204020204" charset="-122"/>
              </a:rPr>
              <a:t>组织/疾病上下文、基因组位置</a:t>
            </a:r>
            <a:endParaRPr sz="10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838575"/>
            <a:ext cx="24231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984879"/>
            <a:ext cx="1737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92234"/>
                </a:solidFill>
                <a:latin typeface="微软雅黑" panose="020B0503020204020204" charset="-122"/>
              </a:rPr>
              <a:t>疾病与功能</a:t>
            </a:r>
            <a:endParaRPr sz="14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2" y="4277487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77A"/>
                </a:solidFill>
                <a:latin typeface="微软雅黑" panose="020B0503020204020204" charset="-122"/>
              </a:rPr>
              <a:t>人工整理关系、候选机制线索</a:t>
            </a:r>
            <a:endParaRPr sz="10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20440" y="3838575"/>
            <a:ext cx="24231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3984879"/>
            <a:ext cx="1737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92234"/>
                </a:solidFill>
                <a:latin typeface="微软雅黑" panose="020B0503020204020204" charset="-122"/>
              </a:rPr>
              <a:t>文献证据</a:t>
            </a:r>
            <a:endParaRPr sz="14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85032" y="4277487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C677A"/>
                </a:solidFill>
                <a:latin typeface="微软雅黑" panose="020B0503020204020204" charset="-122"/>
              </a:rPr>
              <a:t>PMID、摘要、期刊和主题词</a:t>
            </a:r>
            <a:endParaRPr sz="10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564255"/>
            <a:ext cx="1463040" cy="0"/>
          </a:xfrm>
          <a:prstGeom prst="line">
            <a:avLst/>
          </a:prstGeom>
          <a:ln w="22860">
            <a:solidFill>
              <a:srgbClr val="2F6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863840" y="2604135"/>
            <a:ext cx="3291840" cy="207568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8C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2878454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F63B9"/>
                </a:solidFill>
                <a:latin typeface="微软雅黑" panose="020B0503020204020204" charset="-122"/>
              </a:rPr>
              <a:t>核心困难</a:t>
            </a:r>
            <a:endParaRPr sz="15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0" y="3271647"/>
            <a:ext cx="2606040" cy="96012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多资源切换成本高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关系背后的 PMID 难追踪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证据记录容易被误读为因果结论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02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TE-KG 课程论文汇报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3B9"/>
                </a:solidFill>
                <a:latin typeface="微软雅黑" panose="020B0503020204020204" charset="-122"/>
              </a:rPr>
              <a:t>RESEARCH QUESTION</a:t>
            </a:r>
            <a:endParaRPr sz="85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138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234"/>
                </a:solidFill>
                <a:latin typeface="微软雅黑" panose="020B0503020204020204" charset="-122"/>
              </a:rPr>
              <a:t>核心问题：如何把 TE 关系组织成可审查证据链</a:t>
            </a:r>
            <a:endParaRPr sz="25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215" y="1965960"/>
            <a:ext cx="379476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815" y="2194560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3B9"/>
                </a:solidFill>
                <a:latin typeface="微软雅黑" panose="020B0503020204020204" charset="-122"/>
              </a:rPr>
              <a:t>示例问题</a:t>
            </a:r>
            <a:endParaRPr sz="15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2815" y="2633472"/>
            <a:ext cx="31546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92234"/>
                </a:solidFill>
                <a:latin typeface="微软雅黑" panose="020B0503020204020204" charset="-122"/>
              </a:rPr>
              <a:t>L1HS 是否与某些癌症或遗传疾病相关？这些关系由哪些文献记录支持？</a:t>
            </a:r>
            <a:endParaRPr sz="18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4773295" y="2926080"/>
            <a:ext cx="1280160" cy="0"/>
          </a:xfrm>
          <a:prstGeom prst="line">
            <a:avLst/>
          </a:prstGeom>
          <a:ln w="22860">
            <a:solidFill>
              <a:srgbClr val="2F63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73495" y="2148839"/>
            <a:ext cx="126187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935" y="2432304"/>
            <a:ext cx="105156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92234"/>
                </a:solidFill>
                <a:latin typeface="微软雅黑" panose="020B0503020204020204" charset="-122"/>
              </a:rPr>
              <a:t>TE 实体</a:t>
            </a:r>
            <a:endParaRPr sz="13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83223" y="2834640"/>
            <a:ext cx="100584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77A"/>
                </a:solidFill>
                <a:latin typeface="微软雅黑" panose="020B0503020204020204" charset="-122"/>
              </a:rPr>
              <a:t>名称与别名</a:t>
            </a:r>
            <a:endParaRPr sz="95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7671943" y="2852928"/>
            <a:ext cx="237744" cy="0"/>
          </a:xfrm>
          <a:prstGeom prst="line">
            <a:avLst/>
          </a:prstGeom>
          <a:ln w="22860">
            <a:solidFill>
              <a:srgbClr val="349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73695" y="2148839"/>
            <a:ext cx="126187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135" y="2432304"/>
            <a:ext cx="105156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92234"/>
                </a:solidFill>
                <a:latin typeface="微软雅黑" panose="020B0503020204020204" charset="-122"/>
              </a:rPr>
              <a:t>关系记录</a:t>
            </a:r>
            <a:endParaRPr sz="13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83422" y="2834640"/>
            <a:ext cx="100584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77A"/>
                </a:solidFill>
                <a:latin typeface="微软雅黑" panose="020B0503020204020204" charset="-122"/>
              </a:rPr>
              <a:t>疾病/功能/基因</a:t>
            </a:r>
            <a:endParaRPr sz="95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9272143" y="2852928"/>
            <a:ext cx="237744" cy="0"/>
          </a:xfrm>
          <a:prstGeom prst="line">
            <a:avLst/>
          </a:prstGeom>
          <a:ln w="22860">
            <a:solidFill>
              <a:srgbClr val="349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73895" y="2148839"/>
            <a:ext cx="126187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65335" y="2432304"/>
            <a:ext cx="105156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92234"/>
                </a:solidFill>
                <a:latin typeface="微软雅黑" panose="020B0503020204020204" charset="-122"/>
              </a:rPr>
              <a:t>PMID 证据</a:t>
            </a:r>
            <a:endParaRPr sz="13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83623" y="2834640"/>
            <a:ext cx="100584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77A"/>
                </a:solidFill>
                <a:latin typeface="微软雅黑" panose="020B0503020204020204" charset="-122"/>
              </a:rPr>
              <a:t>文献元数据</a:t>
            </a:r>
            <a:endParaRPr sz="95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8535" y="5074920"/>
            <a:ext cx="969264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92234"/>
                </a:solidFill>
                <a:latin typeface="微软雅黑" panose="020B0503020204020204" charset="-122"/>
              </a:rPr>
              <a:t>本项目关注的是“关系是否可追踪、证据是否可核验”，而不是自动宣称机制因果。</a:t>
            </a:r>
            <a:endParaRPr sz="18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03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TE-KG 课程论文汇报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3B9"/>
                </a:solidFill>
                <a:latin typeface="微软雅黑" panose="020B0503020204020204" charset="-122"/>
              </a:rPr>
              <a:t>FRAMEWORK</a:t>
            </a:r>
            <a:endParaRPr sz="85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138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234"/>
                </a:solidFill>
                <a:latin typeface="微软雅黑" panose="020B0503020204020204" charset="-122"/>
              </a:rPr>
              <a:t>总体框架：数据层、图谱层、交互层、问答层</a:t>
            </a:r>
            <a:endParaRPr sz="25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242316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874519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3B9"/>
                </a:solidFill>
                <a:latin typeface="微软雅黑" panose="020B0503020204020204" charset="-122"/>
              </a:rPr>
              <a:t>数据来源层</a:t>
            </a:r>
            <a:endParaRPr sz="15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952" y="2331720"/>
            <a:ext cx="1920240" cy="123444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TE 分类与序列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表达/基因组上下文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PubMed 文献元数据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81528" y="3017520"/>
            <a:ext cx="274320" cy="0"/>
          </a:xfrm>
          <a:prstGeom prst="line">
            <a:avLst/>
          </a:prstGeom>
          <a:ln w="2286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79" y="1600200"/>
            <a:ext cx="242316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874519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3496A8"/>
                </a:solidFill>
                <a:latin typeface="微软雅黑" panose="020B0503020204020204" charset="-122"/>
              </a:rPr>
              <a:t>图谱资源层</a:t>
            </a:r>
            <a:endParaRPr sz="1500" b="1">
              <a:solidFill>
                <a:srgbClr val="3496A8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47872" y="2331720"/>
            <a:ext cx="1920240" cy="123444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实体标准化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关系记录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PMID 证据链接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70448" y="3017520"/>
            <a:ext cx="274320" cy="0"/>
          </a:xfrm>
          <a:prstGeom prst="line">
            <a:avLst/>
          </a:prstGeom>
          <a:ln w="2286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72200" y="1600200"/>
            <a:ext cx="242316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874519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38E5D"/>
                </a:solidFill>
                <a:latin typeface="微软雅黑" panose="020B0503020204020204" charset="-122"/>
              </a:rPr>
              <a:t>用户功能层</a:t>
            </a:r>
            <a:endParaRPr sz="1500" b="1">
              <a:solidFill>
                <a:srgbClr val="438E5D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36792" y="2331720"/>
            <a:ext cx="1920240" cy="123444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图谱浏览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路径查找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证据导出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9368" y="3017520"/>
            <a:ext cx="274320" cy="0"/>
          </a:xfrm>
          <a:prstGeom prst="line">
            <a:avLst/>
          </a:prstGeom>
          <a:ln w="2286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61119" y="1600200"/>
            <a:ext cx="242316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1" y="1874519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B15050"/>
                </a:solidFill>
                <a:latin typeface="微软雅黑" panose="020B0503020204020204" charset="-122"/>
              </a:rPr>
              <a:t>问答助手层</a:t>
            </a:r>
            <a:endParaRPr sz="1500" b="1">
              <a:solidFill>
                <a:srgbClr val="B1505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25711" y="2331720"/>
            <a:ext cx="1920240" cy="123444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普通问题输入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按需调用数据模块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1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证据化回答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468112"/>
            <a:ext cx="987552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92234"/>
                </a:solidFill>
                <a:latin typeface="微软雅黑" panose="020B0503020204020204" charset="-122"/>
              </a:rPr>
              <a:t>设计原则：每个回答和每条关系都应尽量回到可检查的数据记录。</a:t>
            </a:r>
            <a:endParaRPr sz="16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04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TE-KG 课程论文汇报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3B9"/>
                </a:solidFill>
                <a:latin typeface="微软雅黑" panose="020B0503020204020204" charset="-122"/>
              </a:rPr>
              <a:t>VARIABLE LOGIC</a:t>
            </a:r>
            <a:endParaRPr sz="85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138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234"/>
                </a:solidFill>
                <a:latin typeface="微软雅黑" panose="020B0503020204020204" charset="-122"/>
              </a:rPr>
              <a:t>实体—关系—证据模型说明变量之间的连接</a:t>
            </a:r>
            <a:endParaRPr sz="25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2743200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55648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3B9"/>
                </a:solidFill>
                <a:latin typeface="微软雅黑" panose="020B0503020204020204" charset="-122"/>
              </a:rPr>
              <a:t>实体层</a:t>
            </a:r>
            <a:endParaRPr sz="15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06240" y="1554480"/>
            <a:ext cx="6217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755648"/>
            <a:ext cx="56692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92234"/>
                </a:solidFill>
                <a:latin typeface="微软雅黑" panose="020B0503020204020204" charset="-122"/>
              </a:rPr>
              <a:t>TE、疾病、功能、基因、蛋白、RNA、论文</a:t>
            </a:r>
            <a:endParaRPr sz="140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286000" y="2322576"/>
            <a:ext cx="0" cy="310896"/>
          </a:xfrm>
          <a:prstGeom prst="line">
            <a:avLst/>
          </a:prstGeom>
          <a:ln w="2286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2743200"/>
            <a:ext cx="2743200" cy="713232"/>
          </a:xfrm>
          <a:prstGeom prst="roundRect">
            <a:avLst/>
          </a:prstGeom>
          <a:solidFill>
            <a:srgbClr val="EEFAFC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44368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3496A8"/>
                </a:solidFill>
                <a:latin typeface="微软雅黑" panose="020B0503020204020204" charset="-122"/>
              </a:rPr>
              <a:t>关系层</a:t>
            </a:r>
            <a:endParaRPr sz="1500" b="1">
              <a:solidFill>
                <a:srgbClr val="3496A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06240" y="2743200"/>
            <a:ext cx="6217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944368"/>
            <a:ext cx="56692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92234"/>
                </a:solidFill>
                <a:latin typeface="微软雅黑" panose="020B0503020204020204" charset="-122"/>
              </a:rPr>
              <a:t>TE-疾病、TE-功能、TE-基因等候选关系</a:t>
            </a:r>
            <a:endParaRPr sz="140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3511296"/>
            <a:ext cx="0" cy="310895"/>
          </a:xfrm>
          <a:prstGeom prst="line">
            <a:avLst/>
          </a:prstGeom>
          <a:ln w="22860">
            <a:solidFill>
              <a:srgbClr val="5C6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3931920"/>
            <a:ext cx="2743200" cy="713232"/>
          </a:xfrm>
          <a:prstGeom prst="roundRect">
            <a:avLst/>
          </a:prstGeom>
          <a:solidFill>
            <a:srgbClr val="F0F9F4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133087"/>
            <a:ext cx="20116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38E5D"/>
                </a:solidFill>
                <a:latin typeface="微软雅黑" panose="020B0503020204020204" charset="-122"/>
              </a:rPr>
              <a:t>证据层</a:t>
            </a:r>
            <a:endParaRPr sz="1500" b="1">
              <a:solidFill>
                <a:srgbClr val="438E5D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06240" y="3931920"/>
            <a:ext cx="6217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133087"/>
            <a:ext cx="56692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92234"/>
                </a:solidFill>
                <a:latin typeface="微软雅黑" panose="020B0503020204020204" charset="-122"/>
              </a:rPr>
              <a:t>PMID、标题、年份、期刊、主题词、审查状态</a:t>
            </a:r>
            <a:endParaRPr sz="140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5349240"/>
            <a:ext cx="9966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92234"/>
                </a:solidFill>
                <a:latin typeface="微软雅黑" panose="020B0503020204020204" charset="-122"/>
              </a:rPr>
              <a:t>关系变量的目标不是证明因果，而是建立“可追踪的候选关系 + 文献支持”。</a:t>
            </a:r>
            <a:endParaRPr sz="17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05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TE-KG 课程论文汇报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3B9"/>
                </a:solidFill>
                <a:latin typeface="微软雅黑" panose="020B0503020204020204" charset="-122"/>
              </a:rPr>
              <a:t>METHOD</a:t>
            </a:r>
            <a:endParaRPr sz="85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138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234"/>
                </a:solidFill>
                <a:latin typeface="微软雅黑" panose="020B0503020204020204" charset="-122"/>
              </a:rPr>
              <a:t>数据获取流程强调可追踪，而不是依赖单个脚本</a:t>
            </a:r>
            <a:endParaRPr sz="25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1847088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130552"/>
            <a:ext cx="32004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F63B9"/>
                </a:solidFill>
                <a:latin typeface="微软雅黑" panose="020B0503020204020204" charset="-122"/>
              </a:rPr>
              <a:t>1</a:t>
            </a:r>
            <a:endParaRPr sz="16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9848" y="2130552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2234"/>
                </a:solidFill>
                <a:latin typeface="微软雅黑" panose="020B0503020204020204" charset="-122"/>
              </a:rPr>
              <a:t>候选清单</a:t>
            </a:r>
            <a:endParaRPr sz="135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2615184"/>
            <a:ext cx="141732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>
                <a:solidFill>
                  <a:srgbClr val="5C677A"/>
                </a:solidFill>
                <a:latin typeface="微软雅黑" panose="020B0503020204020204" charset="-122"/>
              </a:rPr>
              <a:t>TE 名称、别名、分类层级</a:t>
            </a:r>
            <a:endParaRPr sz="93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377439" y="2724912"/>
            <a:ext cx="283465" cy="0"/>
          </a:xfrm>
          <a:prstGeom prst="line">
            <a:avLst/>
          </a:prstGeom>
          <a:ln w="22860">
            <a:solidFill>
              <a:srgbClr val="349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70632" y="1920240"/>
            <a:ext cx="1847088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35224" y="2130552"/>
            <a:ext cx="32004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F63B9"/>
                </a:solidFill>
                <a:latin typeface="微软雅黑" panose="020B0503020204020204" charset="-122"/>
              </a:rPr>
              <a:t>2</a:t>
            </a:r>
            <a:endParaRPr sz="16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37560" y="2130552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2234"/>
                </a:solidFill>
                <a:latin typeface="微软雅黑" panose="020B0503020204020204" charset="-122"/>
              </a:rPr>
              <a:t>文献检索</a:t>
            </a:r>
            <a:endParaRPr sz="135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71800" y="2615184"/>
            <a:ext cx="141732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>
                <a:solidFill>
                  <a:srgbClr val="5C677A"/>
                </a:solidFill>
                <a:latin typeface="微软雅黑" panose="020B0503020204020204" charset="-122"/>
              </a:rPr>
              <a:t>PMID、标题、摘要、期刊、主题词</a:t>
            </a:r>
            <a:endParaRPr sz="93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645152" y="2724912"/>
            <a:ext cx="283464" cy="0"/>
          </a:xfrm>
          <a:prstGeom prst="line">
            <a:avLst/>
          </a:prstGeom>
          <a:ln w="22860">
            <a:solidFill>
              <a:srgbClr val="349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38344" y="1920240"/>
            <a:ext cx="1847088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2130552"/>
            <a:ext cx="32004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F63B9"/>
                </a:solidFill>
                <a:latin typeface="微软雅黑" panose="020B0503020204020204" charset="-122"/>
              </a:rPr>
              <a:t>3</a:t>
            </a:r>
            <a:endParaRPr sz="16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05272" y="2130552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2234"/>
                </a:solidFill>
                <a:latin typeface="微软雅黑" panose="020B0503020204020204" charset="-122"/>
              </a:rPr>
              <a:t>上下文筛选</a:t>
            </a:r>
            <a:endParaRPr sz="135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39512" y="2615184"/>
            <a:ext cx="141732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>
                <a:solidFill>
                  <a:srgbClr val="5C677A"/>
                </a:solidFill>
                <a:latin typeface="微软雅黑" panose="020B0503020204020204" charset="-122"/>
              </a:rPr>
              <a:t>目标 TE 记录与误匹配记录分离</a:t>
            </a:r>
            <a:endParaRPr sz="93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912864" y="2724912"/>
            <a:ext cx="283463" cy="0"/>
          </a:xfrm>
          <a:prstGeom prst="line">
            <a:avLst/>
          </a:prstGeom>
          <a:ln w="22860">
            <a:solidFill>
              <a:srgbClr val="349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06055" y="1920240"/>
            <a:ext cx="1847088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2130552"/>
            <a:ext cx="32004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F63B9"/>
                </a:solidFill>
                <a:latin typeface="微软雅黑" panose="020B0503020204020204" charset="-122"/>
              </a:rPr>
              <a:t>4</a:t>
            </a:r>
            <a:endParaRPr sz="16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72983" y="2130552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2234"/>
                </a:solidFill>
                <a:latin typeface="微软雅黑" panose="020B0503020204020204" charset="-122"/>
              </a:rPr>
              <a:t>关系抽取</a:t>
            </a:r>
            <a:endParaRPr sz="135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07223" y="2615184"/>
            <a:ext cx="141732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>
                <a:solidFill>
                  <a:srgbClr val="5C677A"/>
                </a:solidFill>
                <a:latin typeface="微软雅黑" panose="020B0503020204020204" charset="-122"/>
              </a:rPr>
              <a:t>TE 与疾病/功能/基因等候选关系</a:t>
            </a:r>
            <a:endParaRPr sz="93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9180576" y="2724912"/>
            <a:ext cx="283464" cy="0"/>
          </a:xfrm>
          <a:prstGeom prst="line">
            <a:avLst/>
          </a:prstGeom>
          <a:ln w="22860">
            <a:solidFill>
              <a:srgbClr val="349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73768" y="1920240"/>
            <a:ext cx="1847088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2130552"/>
            <a:ext cx="32004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F63B9"/>
                </a:solidFill>
                <a:latin typeface="微软雅黑" panose="020B0503020204020204" charset="-122"/>
              </a:rPr>
              <a:t>5</a:t>
            </a:r>
            <a:endParaRPr sz="16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140696" y="2130552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92234"/>
                </a:solidFill>
                <a:latin typeface="微软雅黑" panose="020B0503020204020204" charset="-122"/>
              </a:rPr>
              <a:t>审查输出</a:t>
            </a:r>
            <a:endParaRPr sz="135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774936" y="2615184"/>
            <a:ext cx="1417320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930" b="0">
                <a:solidFill>
                  <a:srgbClr val="5C677A"/>
                </a:solidFill>
                <a:latin typeface="微软雅黑" panose="020B0503020204020204" charset="-122"/>
              </a:rPr>
              <a:t>实体表、关系表、证据表、失败记录</a:t>
            </a:r>
            <a:endParaRPr sz="93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00" y="4892040"/>
            <a:ext cx="1024128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92234"/>
                </a:solidFill>
                <a:latin typeface="微软雅黑" panose="020B0503020204020204" charset="-122"/>
              </a:rPr>
              <a:t>每一步都保留纳入、排除和待审查依据，避免把自动抽取结果直接当作可靠知识。</a:t>
            </a:r>
            <a:endParaRPr sz="16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06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TE-KG 课程论文汇报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3B9"/>
                </a:solidFill>
                <a:latin typeface="微软雅黑" panose="020B0503020204020204" charset="-122"/>
              </a:rPr>
              <a:t>CURRENT BASIS</a:t>
            </a:r>
            <a:endParaRPr sz="85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138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234"/>
                </a:solidFill>
                <a:latin typeface="微软雅黑" panose="020B0503020204020204" charset="-122"/>
              </a:rPr>
              <a:t>已有原型：多个入口已经能够支持 TE 证据探索</a:t>
            </a:r>
            <a:endParaRPr sz="25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7784" y="1444752"/>
            <a:ext cx="3502152" cy="2212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brow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81328"/>
            <a:ext cx="3429000" cy="2139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3694176"/>
            <a:ext cx="34290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77A"/>
                </a:solidFill>
                <a:latin typeface="微软雅黑" panose="020B0503020204020204" charset="-122"/>
              </a:rPr>
              <a:t>实体浏览</a:t>
            </a:r>
            <a:endParaRPr sz="85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52544" y="1444752"/>
            <a:ext cx="3502152" cy="2212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-tekg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481328"/>
            <a:ext cx="3429000" cy="21396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3694176"/>
            <a:ext cx="34290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77A"/>
                </a:solidFill>
                <a:latin typeface="微软雅黑" panose="020B0503020204020204" charset="-122"/>
              </a:rPr>
              <a:t>图谱工作区</a:t>
            </a:r>
            <a:endParaRPr sz="85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47304" y="1444752"/>
            <a:ext cx="3502152" cy="2212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-exp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481328"/>
            <a:ext cx="3429000" cy="21396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83879" y="3694176"/>
            <a:ext cx="34290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77A"/>
                </a:solidFill>
                <a:latin typeface="微软雅黑" panose="020B0503020204020204" charset="-122"/>
              </a:rPr>
              <a:t>表达入口</a:t>
            </a:r>
            <a:endParaRPr sz="85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07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TE-KG 课程论文汇报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3B9"/>
                </a:solidFill>
                <a:latin typeface="微软雅黑" panose="020B0503020204020204" charset="-122"/>
              </a:rPr>
              <a:t>AI ASSISTANT</a:t>
            </a:r>
            <a:endParaRPr sz="85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138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234"/>
                </a:solidFill>
                <a:latin typeface="微软雅黑" panose="020B0503020204020204" charset="-122"/>
              </a:rPr>
              <a:t>问答助手把普通问题转化为数据库证据查询</a:t>
            </a:r>
            <a:endParaRPr sz="25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5879592" cy="3703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-agent-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17320"/>
            <a:ext cx="5806440" cy="3630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120640"/>
            <a:ext cx="58064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77A"/>
                </a:solidFill>
                <a:latin typeface="微软雅黑" panose="020B0503020204020204" charset="-122"/>
              </a:rPr>
              <a:t>Agent 页面：自然语言问答入口</a:t>
            </a:r>
            <a:endParaRPr sz="85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3720" y="1600200"/>
            <a:ext cx="4297680" cy="3182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874519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3B9"/>
                </a:solidFill>
                <a:latin typeface="微软雅黑" panose="020B0503020204020204" charset="-122"/>
              </a:rPr>
              <a:t>定位</a:t>
            </a:r>
            <a:endParaRPr sz="15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50608" y="2267712"/>
            <a:ext cx="3566160" cy="173736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接受中文或英文问题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按需调用分类、图谱、序列、表达和文献证据层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整理证据包，而不是替代科学判断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回答中区分数据库记录、文献支持和缺失信息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08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TE-KG 课程论文汇报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3B9"/>
                </a:solidFill>
                <a:latin typeface="微软雅黑" panose="020B0503020204020204" charset="-122"/>
              </a:rPr>
              <a:t>USER WORKFLOW</a:t>
            </a:r>
            <a:endParaRPr sz="85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138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234"/>
                </a:solidFill>
                <a:latin typeface="微软雅黑" panose="020B0503020204020204" charset="-122"/>
              </a:rPr>
              <a:t>用户从查找实体到导出证据，形成可复查链路</a:t>
            </a:r>
            <a:endParaRPr sz="25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3" y="1408176"/>
            <a:ext cx="5285232" cy="3328416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path-fin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44752"/>
            <a:ext cx="5212080" cy="3255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773168"/>
            <a:ext cx="52120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77A"/>
                </a:solidFill>
                <a:latin typeface="微软雅黑" panose="020B0503020204020204" charset="-122"/>
              </a:rPr>
              <a:t>路径查找：实体间连接</a:t>
            </a:r>
            <a:endParaRPr sz="85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18504" y="1408176"/>
            <a:ext cx="5285232" cy="3328416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-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44752"/>
            <a:ext cx="5212080" cy="32552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773168"/>
            <a:ext cx="52120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77A"/>
                </a:solidFill>
                <a:latin typeface="微软雅黑" panose="020B0503020204020204" charset="-122"/>
              </a:rPr>
              <a:t>下载页面：公开数据与导出</a:t>
            </a:r>
            <a:endParaRPr sz="85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102412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92234"/>
                </a:solidFill>
                <a:latin typeface="微软雅黑" panose="020B0503020204020204" charset="-122"/>
              </a:rPr>
              <a:t>工作流重点：查找 → 浏览 → 核验证据 → 导出结果 → 他人复查。</a:t>
            </a:r>
            <a:endParaRPr sz="16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09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TE-KG 课程论文汇报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3B9"/>
                </a:solidFill>
                <a:latin typeface="微软雅黑" panose="020B0503020204020204" charset="-122"/>
              </a:rPr>
              <a:t>EVALUATION</a:t>
            </a:r>
            <a:endParaRPr sz="85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138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234"/>
                </a:solidFill>
                <a:latin typeface="微软雅黑" panose="020B0503020204020204" charset="-122"/>
              </a:rPr>
              <a:t>评价方案比功能展示更关键</a:t>
            </a:r>
            <a:endParaRPr sz="25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572768"/>
            <a:ext cx="1874519" cy="56692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737360"/>
            <a:ext cx="12801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63B9"/>
                </a:solidFill>
                <a:latin typeface="微软雅黑" panose="020B0503020204020204" charset="-122"/>
              </a:rPr>
              <a:t>覆盖度</a:t>
            </a:r>
            <a:endParaRPr sz="13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46120" y="1572768"/>
            <a:ext cx="70408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737360"/>
            <a:ext cx="6309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92234"/>
                </a:solidFill>
                <a:latin typeface="微软雅黑" panose="020B0503020204020204" charset="-122"/>
              </a:rPr>
              <a:t>TE 实体、疾病实体、关系类型、PMID 连接数</a:t>
            </a:r>
            <a:endParaRPr sz="130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43000" y="2505456"/>
            <a:ext cx="1874519" cy="56692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670048"/>
            <a:ext cx="12801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63B9"/>
                </a:solidFill>
                <a:latin typeface="微软雅黑" panose="020B0503020204020204" charset="-122"/>
              </a:rPr>
              <a:t>可追溯性</a:t>
            </a:r>
            <a:endParaRPr sz="13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46120" y="2505456"/>
            <a:ext cx="70408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670048"/>
            <a:ext cx="6309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92234"/>
                </a:solidFill>
                <a:latin typeface="微软雅黑" panose="020B0503020204020204" charset="-122"/>
              </a:rPr>
              <a:t>关系是否能回到 PMID、标题、年份和来源记录</a:t>
            </a:r>
            <a:endParaRPr sz="130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43000" y="3438144"/>
            <a:ext cx="1874519" cy="56692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602736"/>
            <a:ext cx="12801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63B9"/>
                </a:solidFill>
                <a:latin typeface="微软雅黑" panose="020B0503020204020204" charset="-122"/>
              </a:rPr>
              <a:t>可复现性</a:t>
            </a:r>
            <a:endParaRPr sz="13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46120" y="3438144"/>
            <a:ext cx="70408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602736"/>
            <a:ext cx="6309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92234"/>
                </a:solidFill>
                <a:latin typeface="微软雅黑" panose="020B0503020204020204" charset="-122"/>
              </a:rPr>
              <a:t>接口、图谱界面和导出文件是否一致</a:t>
            </a:r>
            <a:endParaRPr sz="130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143000" y="4370832"/>
            <a:ext cx="1874519" cy="56692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535424"/>
            <a:ext cx="12801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63B9"/>
                </a:solidFill>
                <a:latin typeface="微软雅黑" panose="020B0503020204020204" charset="-122"/>
              </a:rPr>
              <a:t>案例验证</a:t>
            </a:r>
            <a:endParaRPr sz="13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46120" y="4370832"/>
            <a:ext cx="704088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4535424"/>
            <a:ext cx="6309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92234"/>
                </a:solidFill>
                <a:latin typeface="微软雅黑" panose="020B0503020204020204" charset="-122"/>
              </a:rPr>
              <a:t>L1HS、AluJb、SVA 等代表性 TE 查询</a:t>
            </a:r>
            <a:endParaRPr sz="130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0584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92234"/>
                </a:solidFill>
                <a:latin typeface="微软雅黑" panose="020B0503020204020204" charset="-122"/>
              </a:rPr>
              <a:t>评价目标：证明资源是否支持透明探索，而不是证明某个 TE 机制已经成立。</a:t>
            </a:r>
            <a:endParaRPr sz="16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10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TE-KG 课程论文汇报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3B9"/>
                </a:solidFill>
                <a:latin typeface="微软雅黑" panose="020B0503020204020204" charset="-122"/>
              </a:rPr>
              <a:t>OPEN SCIENCE</a:t>
            </a:r>
            <a:endParaRPr sz="85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138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234"/>
                </a:solidFill>
                <a:latin typeface="微软雅黑" panose="020B0503020204020204" charset="-122"/>
              </a:rPr>
              <a:t>FAIR 计划保证资源开放边界清晰</a:t>
            </a:r>
            <a:endParaRPr sz="25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27632"/>
            <a:ext cx="2148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74519"/>
            <a:ext cx="1737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63B9"/>
                </a:solidFill>
                <a:latin typeface="微软雅黑" panose="020B0503020204020204" charset="-122"/>
              </a:rPr>
              <a:t>Findable</a:t>
            </a:r>
            <a:endParaRPr sz="13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2240280"/>
            <a:ext cx="1737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92234"/>
                </a:solidFill>
                <a:latin typeface="微软雅黑" panose="020B0503020204020204" charset="-122"/>
              </a:rPr>
              <a:t>可发现</a:t>
            </a:r>
            <a:endParaRPr sz="120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74720" y="1627632"/>
            <a:ext cx="2148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74519"/>
            <a:ext cx="1737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3496A8"/>
                </a:solidFill>
                <a:latin typeface="微软雅黑" panose="020B0503020204020204" charset="-122"/>
              </a:rPr>
              <a:t>Accessible</a:t>
            </a:r>
            <a:endParaRPr sz="1300" b="1">
              <a:solidFill>
                <a:srgbClr val="3496A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9312" y="2240280"/>
            <a:ext cx="1737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92234"/>
                </a:solidFill>
                <a:latin typeface="微软雅黑" panose="020B0503020204020204" charset="-122"/>
              </a:rPr>
              <a:t>可访问</a:t>
            </a:r>
            <a:endParaRPr sz="120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627632"/>
            <a:ext cx="2148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874519"/>
            <a:ext cx="1737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438E5D"/>
                </a:solidFill>
                <a:latin typeface="微软雅黑" panose="020B0503020204020204" charset="-122"/>
              </a:rPr>
              <a:t>Interoperable</a:t>
            </a:r>
            <a:endParaRPr sz="1300" b="1">
              <a:solidFill>
                <a:srgbClr val="438E5D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82512" y="2240280"/>
            <a:ext cx="1737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92234"/>
                </a:solidFill>
                <a:latin typeface="微软雅黑" panose="020B0503020204020204" charset="-122"/>
              </a:rPr>
              <a:t>可互操作</a:t>
            </a:r>
            <a:endParaRPr sz="120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61120" y="1627632"/>
            <a:ext cx="21488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874519"/>
            <a:ext cx="1737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B15050"/>
                </a:solidFill>
                <a:latin typeface="微软雅黑" panose="020B0503020204020204" charset="-122"/>
              </a:rPr>
              <a:t>Reusable</a:t>
            </a:r>
            <a:endParaRPr sz="1300" b="1">
              <a:solidFill>
                <a:srgbClr val="B1505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25712" y="2240280"/>
            <a:ext cx="173736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92234"/>
                </a:solidFill>
                <a:latin typeface="微软雅黑" panose="020B0503020204020204" charset="-122"/>
              </a:rPr>
              <a:t>可复用</a:t>
            </a:r>
            <a:endParaRPr sz="120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4400" y="3657600"/>
            <a:ext cx="102412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858768"/>
            <a:ext cx="9509760" cy="566928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公开：源代码、处理后的图谱导出表、图源数据、用户文档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受限：第三方许可数据只公开来源说明、转换流程和缺失值规则</a:t>
            </a:r>
          </a:p>
          <a:p>
            <a:pPr>
              <a:lnSpc>
                <a:spcPct val="110000"/>
              </a:lnSpc>
              <a:spcAft>
                <a:spcPts val="600"/>
              </a:spcAft>
              <a:defRPr sz="1200">
                <a:solidFill>
                  <a:srgbClr val="192234"/>
                </a:solidFill>
                <a:latin typeface="微软雅黑" panose="020B0503020204020204" charset="-122"/>
              </a:defRPr>
            </a:pPr>
            <a:r>
              <a:t>不虚构 DOI 或登录号，发布前明确仓库位置、许可证和版本标识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11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TE-KG 课程论文汇报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2377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2F63B9"/>
                </a:solidFill>
                <a:latin typeface="微软雅黑" panose="020B0503020204020204" charset="-122"/>
              </a:rPr>
              <a:t>SUMMARY</a:t>
            </a:r>
            <a:endParaRPr sz="85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13816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92234"/>
                </a:solidFill>
                <a:latin typeface="微软雅黑" panose="020B0503020204020204" charset="-122"/>
              </a:rPr>
              <a:t>预期成果：一个可浏览、可追踪、可问答的 TE 证据资源</a:t>
            </a:r>
            <a:endParaRPr sz="25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11155680" cy="15240"/>
          </a:xfrm>
          <a:prstGeom prst="rect">
            <a:avLst/>
          </a:prstGeom>
          <a:solidFill>
            <a:srgbClr val="DB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880360" cy="1965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76272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F63B9"/>
                </a:solidFill>
                <a:latin typeface="微软雅黑" panose="020B0503020204020204" charset="-122"/>
              </a:rPr>
              <a:t>知识图谱资源</a:t>
            </a:r>
            <a:endParaRPr sz="1700" b="1">
              <a:solidFill>
                <a:srgbClr val="2F63B9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21488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92234"/>
                </a:solidFill>
                <a:latin typeface="微软雅黑" panose="020B0503020204020204" charset="-122"/>
              </a:rPr>
              <a:t>把 TE、疾病、功能、表达和文献证据组织到统一图谱中</a:t>
            </a:r>
            <a:endParaRPr sz="125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2880360" cy="1965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76272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3496A8"/>
                </a:solidFill>
                <a:latin typeface="微软雅黑" panose="020B0503020204020204" charset="-122"/>
              </a:rPr>
              <a:t>证据追踪工作流</a:t>
            </a:r>
            <a:endParaRPr sz="1700" b="1">
              <a:solidFill>
                <a:srgbClr val="3496A8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09159" y="2788920"/>
            <a:ext cx="21488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92234"/>
                </a:solidFill>
                <a:latin typeface="微软雅黑" panose="020B0503020204020204" charset="-122"/>
              </a:rPr>
              <a:t>从实体关系回到 PMID 级文献记录，并支持导出复查</a:t>
            </a:r>
            <a:endParaRPr sz="125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63840" y="1828800"/>
            <a:ext cx="2880360" cy="196596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2176272"/>
            <a:ext cx="23317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438E5D"/>
                </a:solidFill>
                <a:latin typeface="微软雅黑" panose="020B0503020204020204" charset="-122"/>
              </a:rPr>
              <a:t>自然语言问答助手</a:t>
            </a:r>
            <a:endParaRPr sz="1700" b="1">
              <a:solidFill>
                <a:srgbClr val="438E5D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83879" y="2788920"/>
            <a:ext cx="21488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92234"/>
                </a:solidFill>
                <a:latin typeface="微软雅黑" panose="020B0503020204020204" charset="-122"/>
              </a:rPr>
              <a:t>降低使用门槛，帮助用户整合证据并识别信息缺口</a:t>
            </a:r>
            <a:endParaRPr sz="1250" b="0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2870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92234"/>
                </a:solidFill>
                <a:latin typeface="微软雅黑" panose="020B0503020204020204" charset="-122"/>
              </a:rPr>
              <a:t>一句话总结：TE-KG 的价值在于把分散证据变成可审查的研究入口，而不是自动替代科学结论。</a:t>
            </a:r>
            <a:endParaRPr sz="1800" b="1">
              <a:solidFill>
                <a:srgbClr val="19223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4572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12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5C677A"/>
                </a:solidFill>
                <a:latin typeface="微软雅黑" panose="020B0503020204020204" charset="-122"/>
              </a:rPr>
              <a:t>TE-KG 课程论文汇报</a:t>
            </a:r>
            <a:endParaRPr sz="800" b="0">
              <a:solidFill>
                <a:srgbClr val="5C67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1768</Words>
  <Application>WPS 演示</Application>
  <PresentationFormat>On-screen Show (4:3)</PresentationFormat>
  <Paragraphs>287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蒋贤迪</cp:lastModifiedBy>
  <cp:revision>2</cp:revision>
  <dcterms:created xsi:type="dcterms:W3CDTF">2013-01-27T09:14:00Z</dcterms:created>
  <dcterms:modified xsi:type="dcterms:W3CDTF">2026-06-03T12:48:58Z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6E1BED5CCADB48499CF4C121BDD2F666_12</vt:lpwstr>
  </property>
  <property fmtid="{D5CDD505-2E9C-101B-9397-08002B2CF9AE}" pid="3" name="KSOProductBuildVer">
    <vt:lpwstr>2052-12.1.0.23542</vt:lpwstr>
  </property>
</Properties>
</file>